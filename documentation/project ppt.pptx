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80" r:id="rId5"/>
    <p:sldId id="282" r:id="rId6"/>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 id="302" r:id="rId26"/>
    <p:sldId id="303" r:id="rId27"/>
    <p:sldId id="304" r:id="rId28"/>
    <p:sldId id="30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1" d="100"/>
          <a:sy n="71" d="100"/>
        </p:scale>
        <p:origin x="12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902981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06277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6/7/2024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64205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157741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6/7/2024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315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6/7/2024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3433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6/7/2024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51585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058149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6/7/2024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25126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98098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68192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8520980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6/7/2024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06324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6/7/2024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97586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6/7/2024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2545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6/7/2024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01274407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descr="A picture containing large, sitting, white, numbers">
            <a:extLst>
              <a:ext uri="{FF2B5EF4-FFF2-40B4-BE49-F238E27FC236}">
                <a16:creationId xmlns:a16="http://schemas.microsoft.com/office/drawing/2014/main" id="{9A5D9ED1-DFCC-4799-89E2-D118451B98D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2" y="0"/>
            <a:ext cx="12191356" cy="6858000"/>
          </a:xfrm>
          <a:prstGeom prst="rect">
            <a:avLst/>
          </a:prstGeom>
        </p:spPr>
      </p:pic>
      <p:sp useBgFill="1">
        <p:nvSpPr>
          <p:cNvPr id="96" name="Freeform 5">
            <a:extLst>
              <a:ext uri="{FF2B5EF4-FFF2-40B4-BE49-F238E27FC236}">
                <a16:creationId xmlns:a16="http://schemas.microsoft.com/office/drawing/2014/main" id="{FE469E50-3893-4ED6-92BA-2985C32B0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7131809" y="1385982"/>
            <a:ext cx="4031414" cy="4100418"/>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Nova"/>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7389962" y="1673524"/>
            <a:ext cx="3485073" cy="2420504"/>
          </a:xfrm>
        </p:spPr>
        <p:txBody>
          <a:bodyPr>
            <a:normAutofit fontScale="90000"/>
          </a:bodyPr>
          <a:lstStyle/>
          <a:p>
            <a:pPr algn="l"/>
            <a:r>
              <a:rPr lang="en-US" sz="3600" dirty="0">
                <a:effectLst/>
                <a:latin typeface="Times New Roman" panose="02020603050405020304" pitchFamily="18" charset="0"/>
                <a:ea typeface="Calibri" panose="020F0502020204030204" pitchFamily="34" charset="0"/>
              </a:rPr>
              <a:t>Predicting CO2 Emissions from Fuel Consumption Data using Machine Learning</a:t>
            </a:r>
            <a:endParaRPr lang="en-US" sz="6600" dirty="0"/>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7389965" y="4157933"/>
            <a:ext cx="3485072" cy="1026544"/>
          </a:xfrm>
        </p:spPr>
        <p:txBody>
          <a:bodyPr>
            <a:normAutofit/>
          </a:bodyPr>
          <a:lstStyle/>
          <a:p>
            <a:pPr algn="l"/>
            <a:r>
              <a:rPr lang="en-US" dirty="0">
                <a:solidFill>
                  <a:srgbClr val="5792BA"/>
                </a:solidFill>
              </a:rPr>
              <a:t>PRESENTED BY </a:t>
            </a:r>
          </a:p>
          <a:p>
            <a:pPr algn="l"/>
            <a:r>
              <a:rPr lang="en-US" sz="2300" dirty="0">
                <a:solidFill>
                  <a:srgbClr val="5792BA"/>
                </a:solidFill>
              </a:rPr>
              <a:t>VARSHINI J</a:t>
            </a:r>
          </a:p>
        </p:txBody>
      </p:sp>
      <p:sp>
        <p:nvSpPr>
          <p:cNvPr id="5" name="Rectangle 4">
            <a:extLst>
              <a:ext uri="{FF2B5EF4-FFF2-40B4-BE49-F238E27FC236}">
                <a16:creationId xmlns:a16="http://schemas.microsoft.com/office/drawing/2014/main" id="{0A8EC066-B9E9-9671-76D2-373F1E785BB7}"/>
              </a:ext>
            </a:extLst>
          </p:cNvPr>
          <p:cNvSpPr/>
          <p:nvPr/>
        </p:nvSpPr>
        <p:spPr>
          <a:xfrm>
            <a:off x="332305" y="112291"/>
            <a:ext cx="11474213" cy="830997"/>
          </a:xfrm>
          <a:prstGeom prst="rect">
            <a:avLst/>
          </a:prstGeom>
          <a:noFill/>
        </p:spPr>
        <p:txBody>
          <a:bodyPr wrap="square" lIns="91440" tIns="45720" rIns="91440" bIns="45720">
            <a:spAutoFit/>
          </a:bodyPr>
          <a:lstStyle/>
          <a:p>
            <a:pPr algn="ctr"/>
            <a:r>
              <a:rPr lang="en-US" sz="4800" b="1" cap="none" spc="50" dirty="0">
                <a:ln w="0"/>
                <a:solidFill>
                  <a:schemeClr val="accent1">
                    <a:lumMod val="20000"/>
                    <a:lumOff val="80000"/>
                  </a:schemeClr>
                </a:solidFill>
                <a:effectLst>
                  <a:innerShdw blurRad="63500" dist="50800" dir="13500000">
                    <a:srgbClr val="000000">
                      <a:alpha val="50000"/>
                    </a:srgbClr>
                  </a:innerShdw>
                </a:effectLst>
                <a:highlight>
                  <a:srgbClr val="000080"/>
                </a:highlight>
                <a:latin typeface="Times New Roman" panose="02020603050405020304" pitchFamily="18" charset="0"/>
                <a:ea typeface="Times New Roman" panose="02020603050405020304" pitchFamily="18" charset="0"/>
              </a:rPr>
              <a:t>__KRUPANIDHI DEGREE COLLEGE__       </a:t>
            </a:r>
            <a:endParaRPr lang="en-US" sz="4800" b="1" cap="none" spc="50" dirty="0">
              <a:ln w="0"/>
              <a:solidFill>
                <a:schemeClr val="accent1">
                  <a:lumMod val="20000"/>
                  <a:lumOff val="80000"/>
                </a:schemeClr>
              </a:solidFill>
              <a:effectLst>
                <a:innerShdw blurRad="63500" dist="50800" dir="13500000">
                  <a:srgbClr val="000000">
                    <a:alpha val="50000"/>
                  </a:srgbClr>
                </a:innerShdw>
              </a:effectLst>
              <a:highlight>
                <a:srgbClr val="000080"/>
              </a:highlight>
            </a:endParaRPr>
          </a:p>
        </p:txBody>
      </p:sp>
      <p:sp>
        <p:nvSpPr>
          <p:cNvPr id="9" name="TextBox 8">
            <a:extLst>
              <a:ext uri="{FF2B5EF4-FFF2-40B4-BE49-F238E27FC236}">
                <a16:creationId xmlns:a16="http://schemas.microsoft.com/office/drawing/2014/main" id="{1D458B81-7A1F-47B8-C872-7148ECF42010}"/>
              </a:ext>
            </a:extLst>
          </p:cNvPr>
          <p:cNvSpPr txBox="1"/>
          <p:nvPr/>
        </p:nvSpPr>
        <p:spPr>
          <a:xfrm>
            <a:off x="602857" y="1029405"/>
            <a:ext cx="7218371" cy="461665"/>
          </a:xfrm>
          <a:prstGeom prst="rect">
            <a:avLst/>
          </a:prstGeom>
          <a:noFill/>
        </p:spPr>
        <p:txBody>
          <a:bodyPr wrap="square" rtlCol="0">
            <a:spAutoFit/>
          </a:bodyPr>
          <a:lstStyle/>
          <a:p>
            <a:r>
              <a:rPr lang="en-US" sz="2400"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 DEPARTMENT OF COMPUTER SCIENCE_</a:t>
            </a:r>
          </a:p>
        </p:txBody>
      </p:sp>
      <p:sp>
        <p:nvSpPr>
          <p:cNvPr id="10" name="TextBox 9">
            <a:extLst>
              <a:ext uri="{FF2B5EF4-FFF2-40B4-BE49-F238E27FC236}">
                <a16:creationId xmlns:a16="http://schemas.microsoft.com/office/drawing/2014/main" id="{9A4F2A99-3125-2FA9-3CD6-B3A19FCE18BB}"/>
              </a:ext>
            </a:extLst>
          </p:cNvPr>
          <p:cNvSpPr txBox="1"/>
          <p:nvPr/>
        </p:nvSpPr>
        <p:spPr>
          <a:xfrm>
            <a:off x="332305" y="1673523"/>
            <a:ext cx="6606377" cy="1415772"/>
          </a:xfrm>
          <a:prstGeom prst="rect">
            <a:avLst/>
          </a:prstGeom>
          <a:noFill/>
        </p:spPr>
        <p:txBody>
          <a:bodyPr wrap="square" rtlCol="0">
            <a:spAutoFit/>
          </a:bodyPr>
          <a:lstStyle/>
          <a:p>
            <a:pPr algn="ctr"/>
            <a:r>
              <a:rPr lang="en-US" sz="28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 MACHINE</a:t>
            </a:r>
            <a:r>
              <a:rPr lang="en-US" sz="2800" b="1" dirty="0">
                <a:solidFill>
                  <a:srgbClr val="002060"/>
                </a:solidFill>
                <a:highlight>
                  <a:srgbClr val="000080"/>
                </a:highlight>
                <a:latin typeface="Times New Roman" panose="02020603050405020304" pitchFamily="18" charset="0"/>
                <a:cs typeface="Times New Roman" panose="02020603050405020304" pitchFamily="18" charset="0"/>
              </a:rPr>
              <a:t> </a:t>
            </a:r>
            <a:r>
              <a:rPr lang="en-US" sz="28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LEARNING</a:t>
            </a:r>
            <a:r>
              <a:rPr lang="en-US" sz="2800" b="1" dirty="0">
                <a:solidFill>
                  <a:srgbClr val="002060"/>
                </a:solidFill>
                <a:highlight>
                  <a:srgbClr val="000080"/>
                </a:highlight>
                <a:latin typeface="Times New Roman" panose="02020603050405020304" pitchFamily="18" charset="0"/>
                <a:cs typeface="Times New Roman" panose="02020603050405020304" pitchFamily="18" charset="0"/>
              </a:rPr>
              <a:t> </a:t>
            </a:r>
            <a:r>
              <a:rPr lang="en-US" sz="28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INTERNSHIP_</a:t>
            </a:r>
            <a:r>
              <a:rPr lang="en-US" sz="2800" b="1" dirty="0">
                <a:solidFill>
                  <a:srgbClr val="002060"/>
                </a:solidFill>
                <a:highlight>
                  <a:srgbClr val="000080"/>
                </a:highlight>
                <a:latin typeface="Times New Roman" panose="02020603050405020304" pitchFamily="18" charset="0"/>
                <a:cs typeface="Times New Roman" panose="02020603050405020304" pitchFamily="18" charset="0"/>
              </a:rPr>
              <a:t> </a:t>
            </a:r>
          </a:p>
          <a:p>
            <a:pPr algn="ctr"/>
            <a:endParaRPr lang="en-US" sz="1200" b="1" dirty="0">
              <a:solidFill>
                <a:schemeClr val="accent1"/>
              </a:solidFill>
              <a:highlight>
                <a:srgbClr val="000080"/>
              </a:highlight>
              <a:latin typeface="Times New Roman" panose="02020603050405020304" pitchFamily="18" charset="0"/>
              <a:cs typeface="Times New Roman" panose="02020603050405020304" pitchFamily="18" charset="0"/>
            </a:endParaRPr>
          </a:p>
          <a:p>
            <a:pPr algn="ctr"/>
            <a:r>
              <a:rPr lang="en-US" sz="28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 Presentation</a:t>
            </a:r>
            <a:r>
              <a:rPr lang="en-US" sz="2800" b="1" dirty="0">
                <a:solidFill>
                  <a:schemeClr val="accent1"/>
                </a:solidFill>
                <a:highlight>
                  <a:srgbClr val="000080"/>
                </a:highlight>
                <a:latin typeface="Times New Roman" panose="02020603050405020304" pitchFamily="18" charset="0"/>
                <a:cs typeface="Times New Roman" panose="02020603050405020304" pitchFamily="18" charset="0"/>
              </a:rPr>
              <a:t> </a:t>
            </a:r>
            <a:r>
              <a:rPr lang="en-US" sz="28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on TOPIC :  </a:t>
            </a:r>
          </a:p>
          <a:p>
            <a:endParaRPr lang="en-US" dirty="0"/>
          </a:p>
        </p:txBody>
      </p:sp>
      <p:sp>
        <p:nvSpPr>
          <p:cNvPr id="11" name="TextBox 10">
            <a:extLst>
              <a:ext uri="{FF2B5EF4-FFF2-40B4-BE49-F238E27FC236}">
                <a16:creationId xmlns:a16="http://schemas.microsoft.com/office/drawing/2014/main" id="{CC750E39-D35E-A515-010A-58D3BDEED60D}"/>
              </a:ext>
            </a:extLst>
          </p:cNvPr>
          <p:cNvSpPr txBox="1"/>
          <p:nvPr/>
        </p:nvSpPr>
        <p:spPr>
          <a:xfrm>
            <a:off x="4854388" y="5419313"/>
            <a:ext cx="6952130" cy="1133965"/>
          </a:xfrm>
          <a:prstGeom prst="rect">
            <a:avLst/>
          </a:prstGeom>
          <a:noFill/>
        </p:spPr>
        <p:txBody>
          <a:bodyPr wrap="square" rtlCol="0">
            <a:spAutoFit/>
          </a:bodyPr>
          <a:lstStyle/>
          <a:p>
            <a:pPr lvl="0" algn="r">
              <a:lnSpc>
                <a:spcPct val="150000"/>
              </a:lnSpc>
              <a:buClrTx/>
            </a:pPr>
            <a:r>
              <a:rPr lang="en-US" sz="2400" b="1" kern="1200"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Under the guidance of :</a:t>
            </a:r>
          </a:p>
          <a:p>
            <a:pPr lvl="0" algn="r">
              <a:lnSpc>
                <a:spcPct val="150000"/>
              </a:lnSpc>
              <a:buClrTx/>
            </a:pPr>
            <a:r>
              <a:rPr lang="en-US" sz="24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PRINSTON</a:t>
            </a:r>
            <a:r>
              <a:rPr lang="en-US" sz="2400" b="1" dirty="0">
                <a:solidFill>
                  <a:schemeClr val="accent5">
                    <a:lumMod val="75000"/>
                  </a:schemeClr>
                </a:solidFill>
                <a:highlight>
                  <a:srgbClr val="000080"/>
                </a:highlight>
                <a:latin typeface="Times New Roman" panose="02020603050405020304" pitchFamily="18" charset="0"/>
                <a:cs typeface="Times New Roman" panose="02020603050405020304" pitchFamily="18" charset="0"/>
              </a:rPr>
              <a:t> </a:t>
            </a:r>
            <a:r>
              <a:rPr lang="en-US" sz="2400" b="1" dirty="0">
                <a:solidFill>
                  <a:schemeClr val="accent1">
                    <a:lumMod val="20000"/>
                    <a:lumOff val="80000"/>
                  </a:schemeClr>
                </a:solidFill>
                <a:highlight>
                  <a:srgbClr val="000080"/>
                </a:highlight>
                <a:latin typeface="Times New Roman" panose="02020603050405020304" pitchFamily="18" charset="0"/>
                <a:cs typeface="Times New Roman" panose="02020603050405020304" pitchFamily="18" charset="0"/>
              </a:rPr>
              <a:t>SMART ENGINEERS</a:t>
            </a:r>
            <a:endParaRPr kumimoji="0" lang="en-US" sz="2400" b="0" i="0" u="none" strike="noStrike" kern="1200" cap="none" spc="0" normalizeH="0" baseline="-25000" noProof="0" dirty="0">
              <a:ln>
                <a:noFill/>
              </a:ln>
              <a:solidFill>
                <a:schemeClr val="accent1">
                  <a:lumMod val="20000"/>
                  <a:lumOff val="80000"/>
                </a:schemeClr>
              </a:solidFill>
              <a:effectLst/>
              <a:highlight>
                <a:srgbClr val="000080"/>
              </a:highligh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3120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B50F-12BC-7CA2-6ED2-F401E0D3BE1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CONTENTS</a:t>
            </a:r>
            <a:endParaRPr lang="en-US" dirty="0"/>
          </a:p>
        </p:txBody>
      </p:sp>
      <p:sp>
        <p:nvSpPr>
          <p:cNvPr id="3" name="Content Placeholder 2">
            <a:extLst>
              <a:ext uri="{FF2B5EF4-FFF2-40B4-BE49-F238E27FC236}">
                <a16:creationId xmlns:a16="http://schemas.microsoft.com/office/drawing/2014/main" id="{21500ACD-29DF-8D22-B361-6B47BADD62F7}"/>
              </a:ext>
            </a:extLst>
          </p:cNvPr>
          <p:cNvSpPr>
            <a:spLocks noGrp="1"/>
          </p:cNvSpPr>
          <p:nvPr>
            <p:ph idx="1"/>
          </p:nvPr>
        </p:nvSpPr>
        <p:spPr/>
        <p:txBody>
          <a:bodyPr>
            <a:normAutofit fontScale="25000" lnSpcReduction="20000"/>
          </a:bodyPr>
          <a:lstStyle/>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Abstract</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Introduction</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Company Profile</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Problem Statement </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Objective</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Dataset </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Libraries Used</a:t>
            </a:r>
          </a:p>
          <a:p>
            <a:pPr marL="1143000" indent="-1143000">
              <a:buFont typeface="Wingdings" panose="05000000000000000000" pitchFamily="2" charset="2"/>
              <a:buChar char="q"/>
            </a:pPr>
            <a:r>
              <a:rPr lang="en-IN" sz="8000" b="1" dirty="0">
                <a:latin typeface="Times New Roman" panose="02020603050405020304" pitchFamily="18" charset="0"/>
                <a:cs typeface="Times New Roman" panose="02020603050405020304" pitchFamily="18" charset="0"/>
              </a:rPr>
              <a:t>Implementation and Snapshots of the Project</a:t>
            </a:r>
          </a:p>
          <a:p>
            <a:pPr marL="1143000" indent="-1143000">
              <a:buFont typeface="Wingdings" panose="05000000000000000000" pitchFamily="2" charset="2"/>
              <a:buChar char="q"/>
            </a:pPr>
            <a:r>
              <a:rPr lang="en-GB" sz="8000" b="1" dirty="0">
                <a:latin typeface="Times New Roman" panose="02020603050405020304" pitchFamily="18" charset="0"/>
                <a:cs typeface="Times New Roman" panose="02020603050405020304" pitchFamily="18" charset="0"/>
              </a:rPr>
              <a:t>Conclusion</a:t>
            </a:r>
            <a:endParaRPr lang="en-IN" sz="80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524071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B50F-12BC-7CA2-6ED2-F401E0D3BE1F}"/>
              </a:ext>
            </a:extLst>
          </p:cNvPr>
          <p:cNvSpPr>
            <a:spLocks noGrp="1"/>
          </p:cNvSpPr>
          <p:nvPr>
            <p:ph type="title"/>
          </p:nvPr>
        </p:nvSpPr>
        <p:spPr>
          <a:xfrm>
            <a:off x="1022213" y="-129988"/>
            <a:ext cx="10353762" cy="1257300"/>
          </a:xfrm>
        </p:spPr>
        <p:txBody>
          <a:bodyPr/>
          <a:lstStyle/>
          <a:p>
            <a:r>
              <a:rPr lang="en-US" b="1" dirty="0">
                <a:latin typeface="Times New Roman" panose="02020603050405020304" pitchFamily="18" charset="0"/>
                <a:cs typeface="Times New Roman" panose="02020603050405020304" pitchFamily="18" charset="0"/>
              </a:rPr>
              <a:t>ABSTRACT</a:t>
            </a:r>
            <a:endParaRPr lang="en-US" dirty="0"/>
          </a:p>
        </p:txBody>
      </p:sp>
      <p:sp>
        <p:nvSpPr>
          <p:cNvPr id="3" name="Content Placeholder 2">
            <a:extLst>
              <a:ext uri="{FF2B5EF4-FFF2-40B4-BE49-F238E27FC236}">
                <a16:creationId xmlns:a16="http://schemas.microsoft.com/office/drawing/2014/main" id="{21500ACD-29DF-8D22-B361-6B47BADD62F7}"/>
              </a:ext>
            </a:extLst>
          </p:cNvPr>
          <p:cNvSpPr>
            <a:spLocks noGrp="1"/>
          </p:cNvSpPr>
          <p:nvPr>
            <p:ph idx="1"/>
          </p:nvPr>
        </p:nvSpPr>
        <p:spPr>
          <a:xfrm>
            <a:off x="448235" y="1127312"/>
            <a:ext cx="11295530" cy="4781550"/>
          </a:xfrm>
        </p:spPr>
        <p:txBody>
          <a:bodyPr>
            <a:normAutofit fontScale="25000" lnSpcReduction="20000"/>
          </a:bodyPr>
          <a:lstStyle/>
          <a:p>
            <a:pPr algn="just"/>
            <a:r>
              <a:rPr lang="en-US" sz="6400" dirty="0"/>
              <a:t>The primary aim of this project is to leverage machine learning techniques to accurately predict CO2 emissions based on various vehicle attributes. In the context of increasing environmental concerns and stringent regulatory requirements, this project provides actionable insights for automotive manufacturers and policymakers to reduce carbon footprints. The project involves a comprehensive approach that includes data collection, preprocessing, feature engineering, model development, and evaluation.</a:t>
            </a:r>
          </a:p>
          <a:p>
            <a:pPr algn="just"/>
            <a:r>
              <a:rPr lang="en-US" sz="6400" dirty="0"/>
              <a:t>A diverse range of machine learning algorithms, including Linear Regression, Decision Tree, and K-Nearest Neighbors (KNN), were implemented and rigorously tested to determine their efficacy in predicting CO2 emissions. Among these, the Decision Tree model consistently outperformed others, demonstrating superior predictive accuracy and robustness. This can be attributed to its ability to capture complex, non-linear relationships within the data.</a:t>
            </a:r>
          </a:p>
          <a:p>
            <a:pPr algn="just"/>
            <a:r>
              <a:rPr lang="en-US" sz="6400" dirty="0"/>
              <a:t>Data preprocessing and feature engineering were critical components of the project, addressing issues such as missing values, outliers, and categorical variables to ensure data quality. Techniques such as mean imputation, outlier detection, one-hot encoding, and Recursive Feature Elimination (RFE) were employed to enhance the dataset's integrity and the model's performance.</a:t>
            </a:r>
          </a:p>
          <a:p>
            <a:pPr algn="just"/>
            <a:r>
              <a:rPr lang="en-US" sz="6400" dirty="0"/>
              <a:t>The project also facilitated significant skill development, enabling the intern to gain proficiency in Python programming, data manipulation using libraries such as NumPy and Pandas, and the application of machine learning algorithms using scikit-learn. This hands-on experience in model optimization and evaluation honed the intern's analytical and problem-solving skills, laying a strong foundation for a career in data science.</a:t>
            </a:r>
          </a:p>
          <a:p>
            <a:pPr algn="just"/>
            <a:r>
              <a:rPr lang="en-US" sz="6400" dirty="0"/>
              <a:t>The findings of this project hold substantial implications for environmental sustainability and regulatory compliance in the automotive industry. By understanding the key determinants of CO2 emissions, the project supports informed decision-making and policy formulation aimed at reducing emissions and promoting sustainable practices.</a:t>
            </a:r>
          </a:p>
          <a:p>
            <a:endParaRPr lang="en-US" dirty="0"/>
          </a:p>
        </p:txBody>
      </p:sp>
    </p:spTree>
    <p:extLst>
      <p:ext uri="{BB962C8B-B14F-4D97-AF65-F5344CB8AC3E}">
        <p14:creationId xmlns:p14="http://schemas.microsoft.com/office/powerpoint/2010/main" val="1863481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1B50F-12BC-7CA2-6ED2-F401E0D3BE1F}"/>
              </a:ext>
            </a:extLst>
          </p:cNvPr>
          <p:cNvSpPr>
            <a:spLocks noGrp="1"/>
          </p:cNvSpPr>
          <p:nvPr>
            <p:ph type="title"/>
          </p:nvPr>
        </p:nvSpPr>
        <p:spPr>
          <a:xfrm>
            <a:off x="1035660" y="246530"/>
            <a:ext cx="10353762" cy="1257300"/>
          </a:xfrm>
        </p:spPr>
        <p:txBody>
          <a:bodyPr/>
          <a:lstStyle/>
          <a:p>
            <a:r>
              <a:rPr lang="en-US" b="1"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a:extLst>
              <a:ext uri="{FF2B5EF4-FFF2-40B4-BE49-F238E27FC236}">
                <a16:creationId xmlns:a16="http://schemas.microsoft.com/office/drawing/2014/main" id="{21500ACD-29DF-8D22-B361-6B47BADD62F7}"/>
              </a:ext>
            </a:extLst>
          </p:cNvPr>
          <p:cNvSpPr>
            <a:spLocks noGrp="1"/>
          </p:cNvSpPr>
          <p:nvPr>
            <p:ph idx="1"/>
          </p:nvPr>
        </p:nvSpPr>
        <p:spPr>
          <a:xfrm>
            <a:off x="448235" y="1342465"/>
            <a:ext cx="11295530" cy="4781550"/>
          </a:xfrm>
        </p:spPr>
        <p:txBody>
          <a:bodyPr>
            <a:normAutofit/>
          </a:bodyPr>
          <a:lstStyle/>
          <a:p>
            <a:pPr algn="just">
              <a:lnSpc>
                <a:spcPct val="150000"/>
              </a:lnSpc>
              <a:spcAft>
                <a:spcPts val="800"/>
              </a:spcAft>
            </a:pPr>
            <a:r>
              <a:rPr lang="en-US" sz="2400" kern="0" dirty="0">
                <a:effectLst/>
                <a:latin typeface="Times New Roman" panose="02020603050405020304" pitchFamily="18" charset="0"/>
                <a:ea typeface="Times New Roman" panose="02020603050405020304" pitchFamily="18" charset="0"/>
                <a:cs typeface="Times New Roman" panose="02020603050405020304" pitchFamily="18" charset="0"/>
              </a:rPr>
              <a:t>As the global community becomes increasingly aware of the detrimental impacts of climate change, there is a growing emphasis on adopting sustainable practices across various sectors. Among these, the automotive industry stands out as a significant contributor to global CO2 emissions, necessitating focused efforts to mitigate its environmental impact. This project endeavors to harness the power of machine learning to predict CO2 emissions based on vehicle attributes, offering insights that could aid in regulatory compliance, policy development, and the advancement of sustainable transportation initiatives.</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09593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9864B-EE68-7327-8CA7-8C86F9DFEA13}"/>
              </a:ext>
            </a:extLst>
          </p:cNvPr>
          <p:cNvSpPr>
            <a:spLocks noGrp="1"/>
          </p:cNvSpPr>
          <p:nvPr>
            <p:ph type="title"/>
          </p:nvPr>
        </p:nvSpPr>
        <p:spPr/>
        <p:txBody>
          <a:bodyPr/>
          <a:lstStyle/>
          <a:p>
            <a:r>
              <a:rPr lang="en-US" sz="4800" dirty="0">
                <a:latin typeface="Times New Roman" panose="02020603050405020304" pitchFamily="18" charset="0"/>
                <a:cs typeface="Times New Roman" panose="02020603050405020304" pitchFamily="18" charset="0"/>
              </a:rPr>
              <a:t>COMPANY PROFILE</a:t>
            </a:r>
            <a:endParaRPr lang="en-US" dirty="0"/>
          </a:p>
        </p:txBody>
      </p:sp>
      <p:sp>
        <p:nvSpPr>
          <p:cNvPr id="3" name="Content Placeholder 2">
            <a:extLst>
              <a:ext uri="{FF2B5EF4-FFF2-40B4-BE49-F238E27FC236}">
                <a16:creationId xmlns:a16="http://schemas.microsoft.com/office/drawing/2014/main" id="{27C67CE1-476A-02F9-C38A-41569C566F45}"/>
              </a:ext>
            </a:extLst>
          </p:cNvPr>
          <p:cNvSpPr>
            <a:spLocks noGrp="1"/>
          </p:cNvSpPr>
          <p:nvPr>
            <p:ph idx="1"/>
          </p:nvPr>
        </p:nvSpPr>
        <p:spPr/>
        <p:txBody>
          <a:bodyPr>
            <a:normAutofit fontScale="92500" lnSpcReduction="10000"/>
          </a:bodyPr>
          <a:lstStyle/>
          <a:p>
            <a:pPr algn="just" rtl="0" fontAlgn="base">
              <a:spcBef>
                <a:spcPts val="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Name : PRINSTON SMART ENGINEERS</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Main office : Vishnuvardhan Statue Rd, Vishwa Priya Nagar, Begur,      Bengaluru, Karnataka, 560068</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Phone : 9513106196</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Email : Prinston.Smart@gmail.com</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Contact Person: Mrs. Farheen </a:t>
            </a:r>
            <a:r>
              <a:rPr lang="en-IN" sz="2400" b="0" i="0" u="none" strike="noStrike" dirty="0" err="1">
                <a:solidFill>
                  <a:schemeClr val="accent1">
                    <a:lumMod val="20000"/>
                    <a:lumOff val="80000"/>
                  </a:schemeClr>
                </a:solidFill>
                <a:effectLst/>
                <a:latin typeface="Times New Roman" panose="02020603050405020304" pitchFamily="18" charset="0"/>
              </a:rPr>
              <a:t>Farhath</a:t>
            </a:r>
            <a:r>
              <a:rPr lang="en-IN" sz="2400" b="0" i="0" u="none" strike="noStrike" dirty="0">
                <a:solidFill>
                  <a:schemeClr val="accent1">
                    <a:lumMod val="20000"/>
                    <a:lumOff val="80000"/>
                  </a:schemeClr>
                </a:solidFill>
                <a:effectLst/>
                <a:latin typeface="Times New Roman" panose="02020603050405020304" pitchFamily="18" charset="0"/>
              </a:rPr>
              <a:t> (Managing Director)</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Year stand up : 2004</a:t>
            </a:r>
            <a:endParaRPr lang="en-IN" sz="2400" b="0" i="0" u="none" strike="noStrike" dirty="0">
              <a:solidFill>
                <a:schemeClr val="accent1">
                  <a:lumMod val="20000"/>
                  <a:lumOff val="80000"/>
                </a:schemeClr>
              </a:solidFill>
              <a:effectLst/>
              <a:latin typeface="Arial" panose="020B0604020202020204" pitchFamily="34" charset="0"/>
            </a:endParaRPr>
          </a:p>
          <a:p>
            <a:pPr algn="just" rtl="0" fontAlgn="base">
              <a:spcBef>
                <a:spcPts val="1000"/>
              </a:spcBef>
              <a:spcAft>
                <a:spcPts val="0"/>
              </a:spcAft>
              <a:buFont typeface="Arial" panose="020B0604020202020204" pitchFamily="34" charset="0"/>
              <a:buChar char="•"/>
            </a:pPr>
            <a:r>
              <a:rPr lang="en-IN" sz="2400" b="0" i="0" u="none" strike="noStrike" dirty="0">
                <a:solidFill>
                  <a:schemeClr val="accent1">
                    <a:lumMod val="20000"/>
                    <a:lumOff val="80000"/>
                  </a:schemeClr>
                </a:solidFill>
                <a:effectLst/>
                <a:latin typeface="Times New Roman" panose="02020603050405020304" pitchFamily="18" charset="0"/>
              </a:rPr>
              <a:t>Company category : IT Software/ Embedded</a:t>
            </a:r>
            <a:endParaRPr lang="en-IN" sz="2400" b="0" i="0" u="none" strike="noStrike" dirty="0">
              <a:solidFill>
                <a:schemeClr val="accent1">
                  <a:lumMod val="20000"/>
                  <a:lumOff val="80000"/>
                </a:schemeClr>
              </a:solidFill>
              <a:effectLst/>
              <a:latin typeface="Arial" panose="020B0604020202020204" pitchFamily="34" charset="0"/>
            </a:endParaRPr>
          </a:p>
          <a:p>
            <a:endParaRPr lang="en-US" dirty="0">
              <a:solidFill>
                <a:schemeClr val="tx1"/>
              </a:solidFill>
            </a:endParaRPr>
          </a:p>
        </p:txBody>
      </p:sp>
    </p:spTree>
    <p:extLst>
      <p:ext uri="{BB962C8B-B14F-4D97-AF65-F5344CB8AC3E}">
        <p14:creationId xmlns:p14="http://schemas.microsoft.com/office/powerpoint/2010/main" val="2141168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95430-433D-B6B6-DD4C-EDD0BD288FB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1FDC768F-3782-DBC4-7C02-B0E2F804855F}"/>
              </a:ext>
            </a:extLst>
          </p:cNvPr>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automotive industry is a major contributor to global CO2 emissions, significantly impacting climate change and environmental sustainability. Accurately predicting CO2 emissions based on vehicle attributes is crucial for developing effective strategies to mitigate these emissions. However, the complexity and variability of factors influencing emissions present significant challenges. This project aims to address these challenges by employing machine learning techniques to develop robust predictive models. By analyzing attributes such as engine size, fuel consumption, vehicle class, and transmission type, the project seeks to provide actionable insights for policymakers and automotive manufacturers to reduce emissions and promote sustainable transportation practices.</a:t>
            </a:r>
          </a:p>
        </p:txBody>
      </p:sp>
    </p:spTree>
    <p:extLst>
      <p:ext uri="{BB962C8B-B14F-4D97-AF65-F5344CB8AC3E}">
        <p14:creationId xmlns:p14="http://schemas.microsoft.com/office/powerpoint/2010/main" val="2735374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51B6-DF00-41BD-D81B-9373A08F77C2}"/>
              </a:ext>
            </a:extLst>
          </p:cNvPr>
          <p:cNvSpPr>
            <a:spLocks noGrp="1"/>
          </p:cNvSpPr>
          <p:nvPr>
            <p:ph type="title"/>
          </p:nvPr>
        </p:nvSpPr>
        <p:spPr>
          <a:xfrm>
            <a:off x="1021372" y="235324"/>
            <a:ext cx="10353762" cy="1257300"/>
          </a:xfrm>
        </p:spPr>
        <p:txBody>
          <a:bodyPr/>
          <a:lstStyle/>
          <a:p>
            <a:r>
              <a:rPr lang="en-US"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6CEE0AED-221A-439E-A37E-7A781627CCB0}"/>
              </a:ext>
            </a:extLst>
          </p:cNvPr>
          <p:cNvSpPr>
            <a:spLocks noGrp="1"/>
          </p:cNvSpPr>
          <p:nvPr>
            <p:ph idx="1"/>
          </p:nvPr>
        </p:nvSpPr>
        <p:spPr>
          <a:xfrm>
            <a:off x="282388" y="1492624"/>
            <a:ext cx="11618259" cy="5015752"/>
          </a:xfrm>
        </p:spPr>
        <p:txBody>
          <a:bodyPr>
            <a:normAutofit fontScale="70000" lnSpcReduction="20000"/>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US" sz="2600" b="1" kern="0" dirty="0">
                <a:effectLst/>
                <a:latin typeface="Times New Roman" panose="02020603050405020304" pitchFamily="18" charset="0"/>
                <a:ea typeface="Times New Roman" panose="02020603050405020304" pitchFamily="18" charset="0"/>
                <a:cs typeface="Times New Roman" panose="02020603050405020304" pitchFamily="18" charset="0"/>
              </a:rPr>
              <a:t>Develop Predictive Models:</a:t>
            </a:r>
            <a:r>
              <a:rPr lang="en-US" sz="2600" kern="0" dirty="0">
                <a:effectLst/>
                <a:latin typeface="Times New Roman" panose="02020603050405020304" pitchFamily="18" charset="0"/>
                <a:ea typeface="Times New Roman" panose="02020603050405020304" pitchFamily="18" charset="0"/>
                <a:cs typeface="Times New Roman" panose="02020603050405020304" pitchFamily="18" charset="0"/>
              </a:rPr>
              <a:t> The core aim is to utilize state-of-the-art machine learning algorithms to develop robust models capable of accurately predicting CO2 emissions based on various vehicle attributes.</a:t>
            </a:r>
            <a:endParaRPr lang="en-US"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2600" b="1" kern="0" dirty="0">
                <a:effectLst/>
                <a:latin typeface="Times New Roman" panose="02020603050405020304" pitchFamily="18" charset="0"/>
                <a:ea typeface="Times New Roman" panose="02020603050405020304" pitchFamily="18" charset="0"/>
                <a:cs typeface="Times New Roman" panose="02020603050405020304" pitchFamily="18" charset="0"/>
              </a:rPr>
              <a:t>Evaluate Model Performance:</a:t>
            </a:r>
            <a:r>
              <a:rPr lang="en-US" sz="2600" kern="0" dirty="0">
                <a:effectLst/>
                <a:latin typeface="Times New Roman" panose="02020603050405020304" pitchFamily="18" charset="0"/>
                <a:ea typeface="Times New Roman" panose="02020603050405020304" pitchFamily="18" charset="0"/>
                <a:cs typeface="Times New Roman" panose="02020603050405020304" pitchFamily="18" charset="0"/>
              </a:rPr>
              <a:t> A thorough evaluation of different machine learning algorithms is conducted to determine their effectiveness in predicting CO2 emissions, with the goal of identifying the most accurate and reliable models.</a:t>
            </a:r>
            <a:endParaRPr lang="en-US"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2600" b="1" kern="0" dirty="0">
                <a:effectLst/>
                <a:latin typeface="Times New Roman" panose="02020603050405020304" pitchFamily="18" charset="0"/>
                <a:ea typeface="Times New Roman" panose="02020603050405020304" pitchFamily="18" charset="0"/>
                <a:cs typeface="Times New Roman" panose="02020603050405020304" pitchFamily="18" charset="0"/>
              </a:rPr>
              <a:t>Understand Influencing Factors:</a:t>
            </a:r>
            <a:r>
              <a:rPr lang="en-US" sz="2600" kern="0" dirty="0">
                <a:effectLst/>
                <a:latin typeface="Times New Roman" panose="02020603050405020304" pitchFamily="18" charset="0"/>
                <a:ea typeface="Times New Roman" panose="02020603050405020304" pitchFamily="18" charset="0"/>
                <a:cs typeface="Times New Roman" panose="02020603050405020304" pitchFamily="18" charset="0"/>
              </a:rPr>
              <a:t> This project seeks to analyze and understand the key factors that influence CO2 emissions from vehicles, including attributes such as engine size, fuel consumption, vehicle class, and transmission type. Such an understanding is crucial for developing strategies to reduce emissions.</a:t>
            </a:r>
            <a:endParaRPr lang="en-US" sz="26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n-US" sz="2600" b="1" kern="0" dirty="0">
                <a:effectLst/>
                <a:latin typeface="Times New Roman" panose="02020603050405020304" pitchFamily="18" charset="0"/>
                <a:ea typeface="Times New Roman" panose="02020603050405020304" pitchFamily="18" charset="0"/>
                <a:cs typeface="Times New Roman" panose="02020603050405020304" pitchFamily="18" charset="0"/>
              </a:rPr>
              <a:t>Inform Policy and Decision Making:</a:t>
            </a:r>
            <a:r>
              <a:rPr lang="en-US" sz="2600" kern="0" dirty="0">
                <a:effectLst/>
                <a:latin typeface="Times New Roman" panose="02020603050405020304" pitchFamily="18" charset="0"/>
                <a:ea typeface="Times New Roman" panose="02020603050405020304" pitchFamily="18" charset="0"/>
                <a:cs typeface="Times New Roman" panose="02020603050405020304" pitchFamily="18" charset="0"/>
              </a:rPr>
              <a:t> The insights derived from this study are intended to provide valuable guidance to policymakers, automotive manufacturers, and other stakeholders. This will support efforts to reduce emissions, comply with environmental regulations, and promote the adoption of sustainable transportation practices.</a:t>
            </a:r>
            <a:endParaRPr lang="en-US" sz="2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727829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5350E-4002-56AE-E05A-3454D7C6D60E}"/>
              </a:ext>
            </a:extLst>
          </p:cNvPr>
          <p:cNvSpPr>
            <a:spLocks noGrp="1"/>
          </p:cNvSpPr>
          <p:nvPr>
            <p:ph type="title"/>
          </p:nvPr>
        </p:nvSpPr>
        <p:spPr>
          <a:xfrm>
            <a:off x="913795" y="192741"/>
            <a:ext cx="10353762" cy="681318"/>
          </a:xfrm>
        </p:spPr>
        <p:txBody>
          <a:bodyPr>
            <a:normAutofit fontScale="90000"/>
          </a:bodyPr>
          <a:lstStyle/>
          <a:p>
            <a:r>
              <a:rPr lang="en-US" dirty="0">
                <a:latin typeface="Times New Roman" panose="02020603050405020304" pitchFamily="18" charset="0"/>
                <a:cs typeface="Times New Roman" panose="02020603050405020304" pitchFamily="18" charset="0"/>
              </a:rPr>
              <a:t>DATASET</a:t>
            </a:r>
          </a:p>
        </p:txBody>
      </p:sp>
      <p:pic>
        <p:nvPicPr>
          <p:cNvPr id="5" name="Content Placeholder 4">
            <a:extLst>
              <a:ext uri="{FF2B5EF4-FFF2-40B4-BE49-F238E27FC236}">
                <a16:creationId xmlns:a16="http://schemas.microsoft.com/office/drawing/2014/main" id="{2E70BFE3-F1B8-7990-8095-BC776F2D9B40}"/>
              </a:ext>
            </a:extLst>
          </p:cNvPr>
          <p:cNvPicPr>
            <a:picLocks noGrp="1" noChangeAspect="1"/>
          </p:cNvPicPr>
          <p:nvPr>
            <p:ph idx="1"/>
          </p:nvPr>
        </p:nvPicPr>
        <p:blipFill>
          <a:blip r:embed="rId2"/>
          <a:stretch>
            <a:fillRect/>
          </a:stretch>
        </p:blipFill>
        <p:spPr>
          <a:xfrm>
            <a:off x="0" y="874058"/>
            <a:ext cx="12191999" cy="5983941"/>
          </a:xfrm>
        </p:spPr>
      </p:pic>
    </p:spTree>
    <p:extLst>
      <p:ext uri="{BB962C8B-B14F-4D97-AF65-F5344CB8AC3E}">
        <p14:creationId xmlns:p14="http://schemas.microsoft.com/office/powerpoint/2010/main" val="110801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020CB-DBF0-22A8-74A1-06B4E889A528}"/>
              </a:ext>
            </a:extLst>
          </p:cNvPr>
          <p:cNvSpPr>
            <a:spLocks noGrp="1"/>
          </p:cNvSpPr>
          <p:nvPr>
            <p:ph type="title"/>
          </p:nvPr>
        </p:nvSpPr>
        <p:spPr>
          <a:xfrm>
            <a:off x="913795" y="192742"/>
            <a:ext cx="10353762" cy="1257300"/>
          </a:xfrm>
        </p:spPr>
        <p:txBody>
          <a:bodyPr/>
          <a:lstStyle/>
          <a:p>
            <a:r>
              <a:rPr lang="en-US" sz="4800" dirty="0">
                <a:latin typeface="Times New Roman" panose="02020603050405020304" pitchFamily="18" charset="0"/>
                <a:cs typeface="Times New Roman" panose="02020603050405020304" pitchFamily="18" charset="0"/>
              </a:rPr>
              <a:t>LIBRARIES</a:t>
            </a:r>
            <a:endParaRPr lang="en-US" dirty="0"/>
          </a:p>
        </p:txBody>
      </p:sp>
      <p:sp>
        <p:nvSpPr>
          <p:cNvPr id="3" name="Content Placeholder 2">
            <a:extLst>
              <a:ext uri="{FF2B5EF4-FFF2-40B4-BE49-F238E27FC236}">
                <a16:creationId xmlns:a16="http://schemas.microsoft.com/office/drawing/2014/main" id="{00A4D9A5-9727-0050-A668-662ABFF035C8}"/>
              </a:ext>
            </a:extLst>
          </p:cNvPr>
          <p:cNvSpPr>
            <a:spLocks noGrp="1"/>
          </p:cNvSpPr>
          <p:nvPr>
            <p:ph idx="1"/>
          </p:nvPr>
        </p:nvSpPr>
        <p:spPr>
          <a:xfrm>
            <a:off x="215152" y="1223682"/>
            <a:ext cx="11752729" cy="5338484"/>
          </a:xfrm>
        </p:spPr>
        <p:txBody>
          <a:bodyPr>
            <a:normAutofit fontScale="85000" lnSpcReduction="10000"/>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Pandas: Pandas is a powerful library for data manipulation and analysis. Pandas can be used to load mutual fund data from CSV files and preprocess the data for machine learning models.</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Scikit-learn: Scikit-learn is a popular library for machine learning in Python. Scikit-learn also includes tools for data preprocessing, model selection, and model evaluation. Scikit-learn can be used to train machine learning models for mutual fund classification and regression.</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Matplotlib: Matplotlib is a plotting library that is ideal for creating visualizations in Python. Matplotlib can be used to create visualizations of mutual fund data to help investors understand the performance of different funds and categories.</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Seaborn: Seaborn is a visualization library that builds on top of Matplotlib. Seaborn can be used to create more advanced visualizations of mutual fund data to identify patterns and relationships in the data.</a:t>
            </a:r>
            <a:endParaRPr lang="en-GB"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43277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4E2A7-12C7-EAB2-02BF-26FB95B5D031}"/>
              </a:ext>
            </a:extLst>
          </p:cNvPr>
          <p:cNvSpPr>
            <a:spLocks noGrp="1"/>
          </p:cNvSpPr>
          <p:nvPr>
            <p:ph type="title"/>
          </p:nvPr>
        </p:nvSpPr>
        <p:spPr>
          <a:xfrm>
            <a:off x="913795" y="165848"/>
            <a:ext cx="10353762" cy="627529"/>
          </a:xfrm>
        </p:spPr>
        <p:txBody>
          <a:bodyPr>
            <a:normAutofit fontScale="90000"/>
          </a:bodyPr>
          <a:lstStyle/>
          <a:p>
            <a:r>
              <a:rPr lang="en-US" dirty="0">
                <a:latin typeface="Times New Roman" panose="02020603050405020304" pitchFamily="18" charset="0"/>
                <a:cs typeface="Times New Roman" panose="02020603050405020304" pitchFamily="18" charset="0"/>
              </a:rPr>
              <a:t>IMPLEMENTATION</a:t>
            </a:r>
          </a:p>
        </p:txBody>
      </p:sp>
      <p:pic>
        <p:nvPicPr>
          <p:cNvPr id="9" name="Content Placeholder 8">
            <a:extLst>
              <a:ext uri="{FF2B5EF4-FFF2-40B4-BE49-F238E27FC236}">
                <a16:creationId xmlns:a16="http://schemas.microsoft.com/office/drawing/2014/main" id="{3DEB6E1D-FA01-1D2E-153F-BD4D3B20E656}"/>
              </a:ext>
            </a:extLst>
          </p:cNvPr>
          <p:cNvPicPr>
            <a:picLocks noGrp="1" noChangeAspect="1"/>
          </p:cNvPicPr>
          <p:nvPr>
            <p:ph idx="1"/>
          </p:nvPr>
        </p:nvPicPr>
        <p:blipFill>
          <a:blip r:embed="rId2"/>
          <a:stretch>
            <a:fillRect/>
          </a:stretch>
        </p:blipFill>
        <p:spPr>
          <a:xfrm>
            <a:off x="755989" y="900954"/>
            <a:ext cx="10669373" cy="5661211"/>
          </a:xfrm>
        </p:spPr>
      </p:pic>
    </p:spTree>
    <p:extLst>
      <p:ext uri="{BB962C8B-B14F-4D97-AF65-F5344CB8AC3E}">
        <p14:creationId xmlns:p14="http://schemas.microsoft.com/office/powerpoint/2010/main" val="21005043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22F30F-757C-F55D-CB93-1D4E799B4142}"/>
              </a:ext>
            </a:extLst>
          </p:cNvPr>
          <p:cNvPicPr>
            <a:picLocks noChangeAspect="1"/>
          </p:cNvPicPr>
          <p:nvPr/>
        </p:nvPicPr>
        <p:blipFill>
          <a:blip r:embed="rId2"/>
          <a:stretch>
            <a:fillRect/>
          </a:stretch>
        </p:blipFill>
        <p:spPr>
          <a:xfrm>
            <a:off x="-121024" y="0"/>
            <a:ext cx="12313024" cy="6858000"/>
          </a:xfrm>
          <a:prstGeom prst="rect">
            <a:avLst/>
          </a:prstGeom>
        </p:spPr>
      </p:pic>
    </p:spTree>
    <p:extLst>
      <p:ext uri="{BB962C8B-B14F-4D97-AF65-F5344CB8AC3E}">
        <p14:creationId xmlns:p14="http://schemas.microsoft.com/office/powerpoint/2010/main" val="41583873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5D8A19-59FD-05AA-2002-74A0C0CC67E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03510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BAAC6D-4E8E-C2F3-38C0-EA9BD93A2DB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08301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F73F6A-142C-9BBF-EC40-655EEF97D08B}"/>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10742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CABCFB-0D1D-9FB8-52FB-4A5E15D44A5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17081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EDE21C-93E7-9459-13CC-E875CE1FCA66}"/>
              </a:ext>
            </a:extLst>
          </p:cNvPr>
          <p:cNvPicPr>
            <a:picLocks noChangeAspect="1"/>
          </p:cNvPicPr>
          <p:nvPr/>
        </p:nvPicPr>
        <p:blipFill>
          <a:blip r:embed="rId2"/>
          <a:stretch>
            <a:fillRect/>
          </a:stretch>
        </p:blipFill>
        <p:spPr>
          <a:xfrm>
            <a:off x="0" y="12782"/>
            <a:ext cx="12192000" cy="6845218"/>
          </a:xfrm>
          <a:prstGeom prst="rect">
            <a:avLst/>
          </a:prstGeom>
        </p:spPr>
      </p:pic>
    </p:spTree>
    <p:extLst>
      <p:ext uri="{BB962C8B-B14F-4D97-AF65-F5344CB8AC3E}">
        <p14:creationId xmlns:p14="http://schemas.microsoft.com/office/powerpoint/2010/main" val="23990252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6A2DC63-C174-3632-FD1F-566E6A44C83E}"/>
              </a:ext>
            </a:extLst>
          </p:cNvPr>
          <p:cNvPicPr>
            <a:picLocks noChangeAspect="1"/>
          </p:cNvPicPr>
          <p:nvPr/>
        </p:nvPicPr>
        <p:blipFill>
          <a:blip r:embed="rId2"/>
          <a:stretch>
            <a:fillRect/>
          </a:stretch>
        </p:blipFill>
        <p:spPr>
          <a:xfrm>
            <a:off x="0" y="0"/>
            <a:ext cx="12191999" cy="6857999"/>
          </a:xfrm>
          <a:prstGeom prst="rect">
            <a:avLst/>
          </a:prstGeom>
        </p:spPr>
      </p:pic>
    </p:spTree>
    <p:extLst>
      <p:ext uri="{BB962C8B-B14F-4D97-AF65-F5344CB8AC3E}">
        <p14:creationId xmlns:p14="http://schemas.microsoft.com/office/powerpoint/2010/main" val="792185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A244B6-32B9-418A-C8E7-565CCDDB0162}"/>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9012099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DF5A73-EE9F-219A-D196-7D861706A04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927242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1277639-2133-2F21-C113-EC5962E1CA1B}"/>
              </a:ext>
            </a:extLst>
          </p:cNvPr>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3382298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0EC9CF-3872-EA61-8F99-6F1F9FB03C84}"/>
              </a:ext>
            </a:extLst>
          </p:cNvPr>
          <p:cNvPicPr>
            <a:picLocks noChangeAspect="1"/>
          </p:cNvPicPr>
          <p:nvPr/>
        </p:nvPicPr>
        <p:blipFill>
          <a:blip r:embed="rId2"/>
          <a:stretch>
            <a:fillRect/>
          </a:stretch>
        </p:blipFill>
        <p:spPr>
          <a:xfrm>
            <a:off x="-192706" y="0"/>
            <a:ext cx="12384705" cy="6858000"/>
          </a:xfrm>
          <a:prstGeom prst="rect">
            <a:avLst/>
          </a:prstGeom>
        </p:spPr>
      </p:pic>
    </p:spTree>
    <p:extLst>
      <p:ext uri="{BB962C8B-B14F-4D97-AF65-F5344CB8AC3E}">
        <p14:creationId xmlns:p14="http://schemas.microsoft.com/office/powerpoint/2010/main" val="1633620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FC6B29-84B2-1AC8-38C0-7E7918A94229}"/>
              </a:ext>
            </a:extLst>
          </p:cNvPr>
          <p:cNvPicPr>
            <a:picLocks noChangeAspect="1"/>
          </p:cNvPicPr>
          <p:nvPr/>
        </p:nvPicPr>
        <p:blipFill>
          <a:blip r:embed="rId2"/>
          <a:stretch>
            <a:fillRect/>
          </a:stretch>
        </p:blipFill>
        <p:spPr>
          <a:xfrm>
            <a:off x="-1" y="-4454"/>
            <a:ext cx="12184091" cy="6862454"/>
          </a:xfrm>
          <a:prstGeom prst="rect">
            <a:avLst/>
          </a:prstGeom>
        </p:spPr>
      </p:pic>
    </p:spTree>
    <p:extLst>
      <p:ext uri="{BB962C8B-B14F-4D97-AF65-F5344CB8AC3E}">
        <p14:creationId xmlns:p14="http://schemas.microsoft.com/office/powerpoint/2010/main" val="18132769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E01383B-0DEA-3C36-3179-A417E75F81D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87178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76EE9-697A-FD0F-0DC5-3A6901E5C7D0}"/>
              </a:ext>
            </a:extLst>
          </p:cNvPr>
          <p:cNvSpPr>
            <a:spLocks noGrp="1"/>
          </p:cNvSpPr>
          <p:nvPr>
            <p:ph type="title"/>
          </p:nvPr>
        </p:nvSpPr>
        <p:spPr>
          <a:xfrm>
            <a:off x="913795" y="609600"/>
            <a:ext cx="10353762" cy="681318"/>
          </a:xfrm>
        </p:spPr>
        <p:txBody>
          <a:bodyPr>
            <a:normAutofit fontScale="90000"/>
          </a:bodyPr>
          <a:lstStyle/>
          <a:p>
            <a:r>
              <a:rPr lang="en-US"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042DD3F-287E-E9A4-D3A5-90E66BB4D8D4}"/>
              </a:ext>
            </a:extLst>
          </p:cNvPr>
          <p:cNvSpPr>
            <a:spLocks noGrp="1"/>
          </p:cNvSpPr>
          <p:nvPr>
            <p:ph idx="1"/>
          </p:nvPr>
        </p:nvSpPr>
        <p:spPr/>
        <p:txBody>
          <a:bodyPr>
            <a:normAutofit fontScale="92500"/>
          </a:bodyPr>
          <a:lstStyle/>
          <a:p>
            <a:pPr marL="36900" indent="0" algn="just">
              <a:lnSpc>
                <a:spcPct val="150000"/>
              </a:lnSpc>
              <a:buNone/>
            </a:pPr>
            <a:r>
              <a:rPr lang="en-US" sz="2400" dirty="0">
                <a:effectLst/>
                <a:latin typeface="Times New Roman" panose="02020603050405020304" pitchFamily="18" charset="0"/>
                <a:ea typeface="Times New Roman" panose="02020603050405020304" pitchFamily="18" charset="0"/>
              </a:rPr>
              <a:t>The study emphasizes the importance of machine learning in addressing environmental challenges in the automotive industry. The Decision Tree model, in particular, showed high potential for practical applications in emission predictions. Future work could explore advanced algorithms, additional features, and the impact of hybrid or electric vehicles on CO2 emissions. This project highlights the potential of machine learning to drive advancements in eco-friendly vehicle design and regulatory compliance.</a:t>
            </a:r>
          </a:p>
          <a:p>
            <a:endParaRPr lang="en-US" dirty="0"/>
          </a:p>
        </p:txBody>
      </p:sp>
    </p:spTree>
    <p:extLst>
      <p:ext uri="{BB962C8B-B14F-4D97-AF65-F5344CB8AC3E}">
        <p14:creationId xmlns:p14="http://schemas.microsoft.com/office/powerpoint/2010/main" val="35783394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2A503-5BE3-C3AC-5632-B0ECF080BB04}"/>
              </a:ext>
            </a:extLst>
          </p:cNvPr>
          <p:cNvSpPr>
            <a:spLocks noGrp="1"/>
          </p:cNvSpPr>
          <p:nvPr>
            <p:ph type="title"/>
          </p:nvPr>
        </p:nvSpPr>
        <p:spPr>
          <a:xfrm>
            <a:off x="919119" y="2384611"/>
            <a:ext cx="10353762" cy="1257300"/>
          </a:xfrm>
        </p:spPr>
        <p:txBody>
          <a:bodyPr/>
          <a:lstStyle/>
          <a:p>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6914178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 Nova">
      <a:majorFont>
        <a:latin typeface="Arial Nova Light"/>
        <a:ea typeface=""/>
        <a:cs typeface=""/>
      </a:majorFont>
      <a:minorFont>
        <a:latin typeface="Arial Nova"/>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E70FC5-1855-47AB-8CE1-CB3C873A8988}">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0CB38EC-895A-4F8F-8F75-E263501ABB5A}">
  <ds:schemaRefs>
    <ds:schemaRef ds:uri="http://schemas.microsoft.com/sharepoint/v3/contenttype/forms"/>
  </ds:schemaRefs>
</ds:datastoreItem>
</file>

<file path=customXml/itemProps3.xml><?xml version="1.0" encoding="utf-8"?>
<ds:datastoreItem xmlns:ds="http://schemas.openxmlformats.org/officeDocument/2006/customXml" ds:itemID="{5560E646-30AD-4BA0-97EA-A7A07DF5499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{975E1914-F1CC-4348-BD01-1C9D27B89F12}tf11665031_win32</Template>
  <TotalTime>89</TotalTime>
  <Words>1041</Words>
  <Application>Microsoft Office PowerPoint</Application>
  <PresentationFormat>Widescreen</PresentationFormat>
  <Paragraphs>53</Paragraphs>
  <Slides>25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Nova</vt:lpstr>
      <vt:lpstr>Arial Nova Light</vt:lpstr>
      <vt:lpstr>Calibri</vt:lpstr>
      <vt:lpstr>Symbol</vt:lpstr>
      <vt:lpstr>Times New Roman</vt:lpstr>
      <vt:lpstr>Wingdings</vt:lpstr>
      <vt:lpstr>Wingdings 2</vt:lpstr>
      <vt:lpstr>SlateVTI</vt:lpstr>
      <vt:lpstr>Predicting CO2 Emissions from Fuel Consumption Data using Machine Learning</vt:lpstr>
      <vt:lpstr>CONTENTS</vt:lpstr>
      <vt:lpstr>ABSTRACT</vt:lpstr>
      <vt:lpstr>INTRODUCTION</vt:lpstr>
      <vt:lpstr>COMPANY PROFILE</vt:lpstr>
      <vt:lpstr>PROBLEM STATEMENT</vt:lpstr>
      <vt:lpstr>OBJECTIVES</vt:lpstr>
      <vt:lpstr>DATASET</vt:lpstr>
      <vt:lpstr>LIBRARIES</vt:lpstr>
      <vt:lpstr>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Varshini .J</dc:creator>
  <cp:lastModifiedBy>Varshini .J</cp:lastModifiedBy>
  <cp:revision>2</cp:revision>
  <dcterms:created xsi:type="dcterms:W3CDTF">2024-06-06T20:07:16Z</dcterms:created>
  <dcterms:modified xsi:type="dcterms:W3CDTF">2024-06-06T21:36:46Z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